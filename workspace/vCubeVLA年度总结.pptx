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E74C3C"/>
            </a:solidFill>
            <a:ln w="38100" cap="flat">
              <a:solidFill>
                <a:srgbClr val="E74C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850</c:v>
                </c:pt>
                <c:pt idx="1">
                  <c:v>920</c:v>
                </c:pt>
                <c:pt idx="2">
                  <c:v>980</c:v>
                </c:pt>
                <c:pt idx="3">
                  <c:v>1050</c:v>
                </c:pt>
                <c:pt idx="4">
                  <c:v>1120</c:v>
                </c:pt>
                <c:pt idx="5">
                  <c:v>1180</c:v>
                </c:pt>
                <c:pt idx="6">
                  <c:v>1250</c:v>
                </c:pt>
                <c:pt idx="7">
                  <c:v>1320</c:v>
                </c:pt>
                <c:pt idx="8">
                  <c:v>1380</c:v>
                </c:pt>
                <c:pt idx="9">
                  <c:v>1450</c:v>
                </c:pt>
                <c:pt idx="10">
                  <c:v>1520</c:v>
                </c:pt>
                <c:pt idx="11">
                  <c:v>1600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成本结构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bubble3D val="0"/>
            <c:spPr>
              <a:solidFill>
                <a:srgbClr val="2E4053"/>
              </a:solidFill>
              <a:effectLst/>
            </c:spPr>
          </c:dPt>
          <c:dPt>
            <c:idx val="2"/>
            <c:bubble3D val="0"/>
            <c:spPr>
              <a:solidFill>
                <a:srgbClr val="AAB7B8"/>
              </a:solidFill>
              <a:effectLst/>
            </c:spPr>
          </c:dPt>
          <c:dPt>
            <c:idx val="3"/>
            <c:bubble3D val="0"/>
            <c:spPr>
              <a:solidFill>
                <a:srgbClr val="FFFFFF"/>
              </a:solidFill>
              <a:effectLst/>
            </c:spPr>
          </c:dPt>
          <c:dLbls>
            <c:dLbl>
              <c:idx val="0"/>
              <c:numFmt formatCode="#,##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#,##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#,##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#,##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#,##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人力成本</c:v>
                </c:pt>
                <c:pt idx="1">
                  <c:v>技术成本</c:v>
                </c:pt>
                <c:pt idx="2">
                  <c:v>运营成本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30</c:v>
                </c:pt>
                <c:pt idx="2">
                  <c:v>20</c:v>
                </c:pt>
                <c:pt idx="3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vCubeVLA运营项目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2024年度总结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业务指标达成情况汇报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汇报人: [您的姓名]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2024年12月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年度业绩概览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vCubeVLA运营项目关键业务指标达成情况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1097280"/>
          </a:xfrm>
          <a:prstGeom prst="rect">
            <a:avLst/>
          </a:prstGeom>
          <a:solidFill>
            <a:srgbClr val="2E4053">
              <a:alpha val="50000"/>
            </a:srgbClr>
          </a:solidFill>
          <a:ln w="508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收入完成率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超出目标15个百分点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3657600" cy="1097280"/>
          </a:xfrm>
          <a:prstGeom prst="rect">
            <a:avLst/>
          </a:prstGeom>
          <a:solidFill>
            <a:srgbClr val="2E4053">
              <a:alpha val="50000"/>
            </a:srgbClr>
          </a:solidFill>
          <a:ln w="508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663440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成本节约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运营效率显著提升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657600" cy="1097280"/>
          </a:xfrm>
          <a:prstGeom prst="rect">
            <a:avLst/>
          </a:prstGeom>
          <a:solidFill>
            <a:srgbClr val="2E4053">
              <a:alpha val="50000"/>
            </a:srgbClr>
          </a:solidFill>
          <a:ln w="508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34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54864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ROI提升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投资回报率稳步增长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2743200"/>
            <a:ext cx="3657600" cy="1097280"/>
          </a:xfrm>
          <a:prstGeom prst="rect">
            <a:avLst/>
          </a:prstGeom>
          <a:solidFill>
            <a:srgbClr val="2E4053">
              <a:alpha val="50000"/>
            </a:srgbClr>
          </a:solidFill>
          <a:ln w="508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834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66344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客户满意度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6344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服务质量获得高度认可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收入增长分析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vCubeVLA运营项目月度收入趋势与季度对比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48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1371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同比增长率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0" y="2560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40080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目标达成率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成本优化成果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vCubeVLA运营项目成本结构优化与节约分析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总体成本节约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371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20040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运营效率提升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1371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¥2.3M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48640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年度节约金额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2560320"/>
          <a:ext cx="36576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457200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成本节约明细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人力成本优化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-12%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技术架构优化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58000" y="3337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运营流程改进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858000" y="3657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-3%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资源利用率提升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5800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项目亮点总结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vCubeVLA运营项目关键成就与团队贡献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1645920"/>
          </a:xfrm>
          <a:prstGeom prst="rect">
            <a:avLst/>
          </a:prstGeom>
          <a:solidFill>
            <a:srgbClr val="2E4053">
              <a:alpha val="50000"/>
            </a:srgbClr>
          </a:solidFill>
          <a:ln w="508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智能化运营升级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AI算法优化效率40%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自动化处理率提升至85%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运维成本降低35%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1371600"/>
            <a:ext cx="2011680" cy="1645920"/>
          </a:xfrm>
          <a:prstGeom prst="rect">
            <a:avLst/>
          </a:prstGeom>
          <a:solidFill>
            <a:srgbClr val="2E4053">
              <a:alpha val="50000"/>
            </a:srgbClr>
          </a:solidFill>
          <a:ln w="508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83464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客户体验优化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34640" y="2194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客户满意度达92%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423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响应时间缩短60%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6517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客户留存率提升25%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1371600"/>
            <a:ext cx="2011680" cy="1645920"/>
          </a:xfrm>
          <a:prstGeom prst="rect">
            <a:avLst/>
          </a:prstGeom>
          <a:solidFill>
            <a:srgbClr val="2E4053">
              <a:alpha val="50000"/>
            </a:srgbClr>
          </a:solidFill>
          <a:ln w="508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512064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技术架构创新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2194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微服务架构升级完成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2423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系统可用性达99.9%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26517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并发处理能力提升3倍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E74C3C">
              <a:alpha val="1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团队贡献量化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4008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团队成员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3,000+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65176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工作小时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66344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创新专利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7512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67512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项目完成率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2025年规划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vCubeVLA运营项目下一年度目标与关键举措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029200" cy="548640"/>
          </a:xfrm>
          <a:prstGeom prst="rect">
            <a:avLst/>
          </a:prstGeom>
          <a:solidFill>
            <a:srgbClr val="2E4053">
              <a:alpha val="50000"/>
            </a:srgbClr>
          </a:solidFill>
          <a:ln w="508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01168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收入增长目标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16916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基于2024年基础，实现收入同比增长30%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029200" cy="548640"/>
          </a:xfrm>
          <a:prstGeom prst="rect">
            <a:avLst/>
          </a:prstGeom>
          <a:solidFill>
            <a:srgbClr val="2E4053">
              <a:alpha val="50000"/>
            </a:srgbClr>
          </a:solidFill>
          <a:ln w="508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57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01168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效率提升目标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11680" y="23317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通过技术创新和流程优化，实现运营效率再提升30%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5029200" cy="548640"/>
          </a:xfrm>
          <a:prstGeom prst="rect">
            <a:avLst/>
          </a:prstGeom>
          <a:solidFill>
            <a:srgbClr val="2E4053">
              <a:alpha val="50000"/>
            </a:srgbClr>
          </a:solidFill>
          <a:ln w="508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97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01168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客户满意度目标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11680" y="297180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持续优化服务质量，客户满意度提升至95%以上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关键举措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43600" y="1737360"/>
            <a:ext cx="2743200" cy="548640"/>
          </a:xfrm>
          <a:prstGeom prst="rect">
            <a:avLst/>
          </a:prstGeom>
          <a:solidFill>
            <a:srgbClr val="2E4053">
              <a:alpha val="7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783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智能化升级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201168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AI算法2.0版本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214884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自动化覆盖率90%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2377440"/>
            <a:ext cx="2743200" cy="548640"/>
          </a:xfrm>
          <a:prstGeom prst="rect">
            <a:avLst/>
          </a:prstGeom>
          <a:solidFill>
            <a:srgbClr val="2E4053">
              <a:alpha val="7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423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市场扩展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35040" y="265176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新增3个区域市场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278892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客户基数翻倍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3017520"/>
            <a:ext cx="2743200" cy="548640"/>
          </a:xfrm>
          <a:prstGeom prst="rect">
            <a:avLst/>
          </a:prstGeom>
          <a:solidFill>
            <a:srgbClr val="2E4053">
              <a:alpha val="7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3063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技术创新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35040" y="329184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云原生架构升级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342900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性能提升5倍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solidFill>
            <a:srgbClr val="E74C3C">
              <a:alpha val="1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季度里程碑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080" y="3657600"/>
            <a:ext cx="1920240" cy="640080"/>
          </a:xfrm>
          <a:prstGeom prst="rect">
            <a:avLst/>
          </a:prstGeom>
          <a:solidFill>
            <a:srgbClr val="2E4053">
              <a:alpha val="5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7490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39776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基础建设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651760" y="3657600"/>
            <a:ext cx="1920240" cy="640080"/>
          </a:xfrm>
          <a:prstGeom prst="rect">
            <a:avLst/>
          </a:prstGeom>
          <a:solidFill>
            <a:srgbClr val="2E4053">
              <a:alpha val="5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51760" y="37490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651760" y="39776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试点上线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63440" y="3657600"/>
            <a:ext cx="1920240" cy="640080"/>
          </a:xfrm>
          <a:prstGeom prst="rect">
            <a:avLst/>
          </a:prstGeom>
          <a:solidFill>
            <a:srgbClr val="2E4053">
              <a:alpha val="5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7490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663440" y="39776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全面推广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675120" y="3657600"/>
            <a:ext cx="1920240" cy="640080"/>
          </a:xfrm>
          <a:prstGeom prst="rect">
            <a:avLst/>
          </a:prstGeom>
          <a:solidFill>
            <a:srgbClr val="2E4053">
              <a:alpha val="5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37490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675120" y="39776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优化迭代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2026-01-25T09:04:01Z</dcterms:created>
  <dcterms:modified xsi:type="dcterms:W3CDTF">2026-01-25T09:04:01Z</dcterms:modified>
</cp:coreProperties>
</file>