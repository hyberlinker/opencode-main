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509E"/>
                </a:solidFill>
                <a:latin typeface="Inter"/>
              </a:defRPr>
            </a:pPr>
            <a:r>
              <a:rPr a:ea="HarmonyOS Sans SC"/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01. 年度工作总结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3774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    1.1 vCube 协作平台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    1.2 VLA 日志分析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1089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    1.3 基础效能工具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4747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    1.4 AI 创新应用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840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    1.5 快应用政务服务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2062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02. 问题回顾与建议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754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03. 新年工作规划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509E"/>
                </a:solidFill>
                <a:latin typeface="Inter"/>
              </a:defRPr>
            </a:pPr>
            <a:r>
              <a:rPr a:ea="HarmonyOS Sans SC"/>
              <a:t>vCube 协作平台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4552" cy="18288"/>
          </a:xfrm>
          <a:prstGeom prst="rect">
            <a:avLst/>
          </a:prstGeom>
          <a:solidFill>
            <a:srgbClr val="00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509E"/>
                </a:solidFill>
                <a:latin typeface="Inter"/>
              </a:defRPr>
            </a:pPr>
            <a:r>
              <a:rPr a:ea="HarmonyOS Sans SC"/>
              <a:t>■ 工作内容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6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版本迭代：完成 v8.2.9.2 - v8.4.4 共6个版本，50+次功能迭代。</a:t>
            </a:r>
          </a:p>
          <a:p>
            <a:pPr>
              <a:spcAft>
                <a:spcPts val="1000"/>
              </a:spcAft>
              <a:defRPr sz="16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统一协作：实现文本、选区、成员等多种批注类型，支持Bug一键流转Jira。</a:t>
            </a:r>
          </a:p>
          <a:p>
            <a:pPr>
              <a:spcAft>
                <a:spcPts val="1000"/>
              </a:spcAft>
              <a:defRPr sz="16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实时协同：构建多人实时编辑引擎，保证数据一致性，替代传统Excel离线交互模式。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64592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C3232"/>
                </a:solidFill>
                <a:latin typeface="Inter"/>
              </a:defRPr>
            </a:pPr>
            <a:r>
              <a:rPr a:ea="HarmonyOS Sans SC"/>
              <a:t>■ 关键成效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210312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46464"/>
                </a:solidFill>
                <a:latin typeface="Inter"/>
              </a:defRPr>
            </a:pPr>
            <a:r>
              <a:rPr a:ea="HarmonyOS Sans SC"/>
              <a:t>研发测试节省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37744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DC3232"/>
                </a:solidFill>
                <a:latin typeface="Inter"/>
              </a:defRPr>
            </a:pPr>
            <a:r>
              <a:rPr a:ea="HarmonyOS Sans SC"/>
              <a:t>140.6人天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83464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46464"/>
                </a:solidFill>
                <a:latin typeface="Inter"/>
              </a:defRPr>
            </a:pPr>
            <a:r>
              <a:rPr a:ea="HarmonyOS Sans SC"/>
              <a:t>协作效率提升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310896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DC3232"/>
                </a:solidFill>
                <a:latin typeface="Inter"/>
              </a:defRPr>
            </a:pPr>
            <a:r>
              <a:rPr a:ea="HarmonyOS Sans SC"/>
              <a:t>90%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384048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509E"/>
                </a:solidFill>
                <a:latin typeface="Inter"/>
              </a:defRPr>
            </a:pPr>
            <a:r>
              <a:rPr a:ea="HarmonyOS Sans SC"/>
              <a:t>■ 工作心得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4297680"/>
            <a:ext cx="3931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价值主张：工具的价值在于'用完即走'，自动化流转降低了用户的操作成本。</a:t>
            </a:r>
          </a:p>
          <a:p>
            <a:pPr>
              <a:spcAft>
                <a:spcPts val="800"/>
              </a:spcAft>
              <a:defRPr sz="14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协作变革：彻底消除Excel版本混乱，实现数据源头的统一。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509E"/>
                </a:solidFill>
                <a:latin typeface="Inter"/>
              </a:defRPr>
            </a:pPr>
            <a:r>
              <a:rPr a:ea="HarmonyOS Sans SC"/>
              <a:t>VLA 日志分析工具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4552" cy="18288"/>
          </a:xfrm>
          <a:prstGeom prst="rect">
            <a:avLst/>
          </a:prstGeom>
          <a:solidFill>
            <a:srgbClr val="00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509E"/>
                </a:solidFill>
                <a:latin typeface="Inter"/>
              </a:defRPr>
            </a:pPr>
            <a:r>
              <a:rPr a:ea="HarmonyOS Sans SC"/>
              <a:t>■ 工作内容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6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海量日志引擎：优化大文件加载算法，支持GB级日志秒级打开。</a:t>
            </a:r>
          </a:p>
          <a:p>
            <a:pPr>
              <a:spcAft>
                <a:spcPts val="1000"/>
              </a:spcAft>
              <a:defRPr sz="16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深度可视化：实现Trace文件时序图展示，支持标准Log格式化解析与过滤。</a:t>
            </a:r>
          </a:p>
          <a:p>
            <a:pPr>
              <a:spcAft>
                <a:spcPts val="1000"/>
              </a:spcAft>
              <a:defRPr sz="16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全链路压缩：实施日志上传与存储压缩策略，显著降低成本。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64592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C3232"/>
                </a:solidFill>
                <a:latin typeface="Inter"/>
              </a:defRPr>
            </a:pPr>
            <a:r>
              <a:rPr a:ea="HarmonyOS Sans SC"/>
              <a:t>■ 关键成效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210312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46464"/>
                </a:solidFill>
                <a:latin typeface="Inter"/>
              </a:defRPr>
            </a:pPr>
            <a:r>
              <a:rPr a:ea="HarmonyOS Sans SC"/>
              <a:t>日志压缩量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37744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DC3232"/>
                </a:solidFill>
                <a:latin typeface="Inter"/>
              </a:defRPr>
            </a:pPr>
            <a:r>
              <a:rPr a:ea="HarmonyOS Sans SC"/>
              <a:t>434 TB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83464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46464"/>
                </a:solidFill>
                <a:latin typeface="Inter"/>
              </a:defRPr>
            </a:pPr>
            <a:r>
              <a:rPr a:ea="HarmonyOS Sans SC"/>
              <a:t>存储节省折算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310896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DC3232"/>
                </a:solidFill>
                <a:latin typeface="Inter"/>
              </a:defRPr>
            </a:pPr>
            <a:r>
              <a:rPr a:ea="HarmonyOS Sans SC"/>
              <a:t>4,740人天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384048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509E"/>
                </a:solidFill>
                <a:latin typeface="Inter"/>
              </a:defRPr>
            </a:pPr>
            <a:r>
              <a:rPr a:ea="HarmonyOS Sans SC"/>
              <a:t>■ 工作心得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4297680"/>
            <a:ext cx="3931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体验升级：将枯燥的文本阅读转化为直观的'看图说话'，降低问题定位门槛。</a:t>
            </a:r>
          </a:p>
          <a:p>
            <a:pPr>
              <a:spcAft>
                <a:spcPts val="800"/>
              </a:spcAft>
              <a:defRPr sz="14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性能即体验：秒级打开大文件是核心竞争力。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509E"/>
                </a:solidFill>
                <a:latin typeface="Inter"/>
              </a:defRPr>
            </a:pPr>
            <a:r>
              <a:rPr a:ea="HarmonyOS Sans SC"/>
              <a:t>运营商与政企定制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4552" cy="18288"/>
          </a:xfrm>
          <a:prstGeom prst="rect">
            <a:avLst/>
          </a:prstGeom>
          <a:solidFill>
            <a:srgbClr val="00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509E"/>
                </a:solidFill>
                <a:latin typeface="Inter"/>
              </a:defRPr>
            </a:pPr>
            <a:r>
              <a:rPr a:ea="HarmonyOS Sans SC"/>
              <a:t>■ 工作内容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6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自动化校验：开发工具自动检查FCC ID、GMS认证状态，覆盖双端配置。</a:t>
            </a:r>
          </a:p>
          <a:p>
            <a:pPr>
              <a:spcAft>
                <a:spcPts val="1000"/>
              </a:spcAft>
              <a:defRPr sz="16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源头治理：在代码提交阶段拦截合规问题，避免版本回退。</a:t>
            </a:r>
          </a:p>
          <a:p>
            <a:pPr>
              <a:spcAft>
                <a:spcPts val="1000"/>
              </a:spcAft>
              <a:defRPr sz="16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兼容适配：解决运营商项目复杂的配置差异问题。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64592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C3232"/>
                </a:solidFill>
                <a:latin typeface="Inter"/>
              </a:defRPr>
            </a:pPr>
            <a:r>
              <a:rPr a:ea="HarmonyOS Sans SC"/>
              <a:t>■ 关键成效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210312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46464"/>
                </a:solidFill>
                <a:latin typeface="Inter"/>
              </a:defRPr>
            </a:pPr>
            <a:r>
              <a:rPr a:ea="HarmonyOS Sans SC"/>
              <a:t>拦截合规问题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37744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DC3232"/>
                </a:solidFill>
                <a:latin typeface="Inter"/>
              </a:defRPr>
            </a:pPr>
            <a:r>
              <a:rPr a:ea="HarmonyOS Sans SC"/>
              <a:t>120+项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83464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46464"/>
                </a:solidFill>
                <a:latin typeface="Inter"/>
              </a:defRPr>
            </a:pPr>
            <a:r>
              <a:rPr a:ea="HarmonyOS Sans SC"/>
              <a:t>人工校验节省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310896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DC3232"/>
                </a:solidFill>
                <a:latin typeface="Inter"/>
              </a:defRPr>
            </a:pPr>
            <a:r>
              <a:rPr a:ea="HarmonyOS Sans SC"/>
              <a:t>195人天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384048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509E"/>
                </a:solidFill>
                <a:latin typeface="Inter"/>
              </a:defRPr>
            </a:pPr>
            <a:r>
              <a:rPr a:ea="HarmonyOS Sans SC"/>
              <a:t>■ 工作心得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4297680"/>
            <a:ext cx="3931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合规红线：用工具替代人工CheckList，确保100%准确。</a:t>
            </a:r>
          </a:p>
          <a:p>
            <a:pPr>
              <a:spcAft>
                <a:spcPts val="800"/>
              </a:spcAft>
              <a:defRPr sz="14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防患未然：在源头解决问题成本最低。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509E"/>
                </a:solidFill>
                <a:latin typeface="Inter"/>
              </a:defRPr>
            </a:pPr>
            <a:r>
              <a:rPr a:ea="HarmonyOS Sans SC"/>
              <a:t>软件版本与FTP工具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4552" cy="18288"/>
          </a:xfrm>
          <a:prstGeom prst="rect">
            <a:avLst/>
          </a:prstGeom>
          <a:solidFill>
            <a:srgbClr val="00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509E"/>
                </a:solidFill>
                <a:latin typeface="Inter"/>
              </a:defRPr>
            </a:pPr>
            <a:r>
              <a:rPr a:ea="HarmonyOS Sans SC"/>
              <a:t>■ 工作内容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6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全流程自动化：实现版本自动下载、鉴权校验与更新检测。</a:t>
            </a:r>
          </a:p>
          <a:p>
            <a:pPr>
              <a:spcAft>
                <a:spcPts val="1000"/>
              </a:spcAft>
              <a:defRPr sz="16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信息提取：自动解析ReleaseNote，减少人工整理工作量。</a:t>
            </a:r>
          </a:p>
          <a:p>
            <a:pPr>
              <a:spcAft>
                <a:spcPts val="1000"/>
              </a:spcAft>
              <a:defRPr sz="16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场景优化：针对每日高频使用的下载场景进行极致提速。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64592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C3232"/>
                </a:solidFill>
                <a:latin typeface="Inter"/>
              </a:defRPr>
            </a:pPr>
            <a:r>
              <a:rPr a:ea="HarmonyOS Sans SC"/>
              <a:t>■ 关键成效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210312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46464"/>
                </a:solidFill>
                <a:latin typeface="Inter"/>
              </a:defRPr>
            </a:pPr>
            <a:r>
              <a:rPr a:ea="HarmonyOS Sans SC"/>
              <a:t>下载等待节省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37744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DC3232"/>
                </a:solidFill>
                <a:latin typeface="Inter"/>
              </a:defRPr>
            </a:pPr>
            <a:r>
              <a:rPr a:ea="HarmonyOS Sans SC"/>
              <a:t>9,200+人天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83464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46464"/>
                </a:solidFill>
                <a:latin typeface="Inter"/>
              </a:defRPr>
            </a:pPr>
            <a:r>
              <a:rPr a:ea="HarmonyOS Sans SC"/>
              <a:t>使用频率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310896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DC3232"/>
                </a:solidFill>
                <a:latin typeface="Inter"/>
              </a:defRPr>
            </a:pPr>
            <a:r>
              <a:rPr a:ea="HarmonyOS Sans SC"/>
              <a:t>12,000+次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384048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509E"/>
                </a:solidFill>
                <a:latin typeface="Inter"/>
              </a:defRPr>
            </a:pPr>
            <a:r>
              <a:rPr a:ea="HarmonyOS Sans SC"/>
              <a:t>■ 工作心得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4297680"/>
            <a:ext cx="3931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ROI思维：抓住'高频低价值'场景（如等待下载）进行优化，收益巨大。</a:t>
            </a:r>
          </a:p>
          <a:p>
            <a:pPr>
              <a:spcAft>
                <a:spcPts val="800"/>
              </a:spcAft>
              <a:defRPr sz="14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极简工具链：让工程师专注于核心创造性工作。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509E"/>
                </a:solidFill>
                <a:latin typeface="Inter"/>
              </a:defRPr>
            </a:pPr>
            <a:r>
              <a:rPr a:ea="HarmonyOS Sans SC"/>
              <a:t>翻译管理 (AI重构)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4552" cy="18288"/>
          </a:xfrm>
          <a:prstGeom prst="rect">
            <a:avLst/>
          </a:prstGeom>
          <a:solidFill>
            <a:srgbClr val="00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509E"/>
                </a:solidFill>
                <a:latin typeface="Inter"/>
              </a:defRPr>
            </a:pPr>
            <a:r>
              <a:rPr a:ea="HarmonyOS Sans SC"/>
              <a:t>■ 工作内容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6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AI截图匹配：基于CV技术实现UI截图与翻译条目自动关联，匹配率&gt;80%。</a:t>
            </a:r>
          </a:p>
          <a:p>
            <a:pPr>
              <a:spcAft>
                <a:spcPts val="1000"/>
              </a:spcAft>
              <a:defRPr sz="16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流程自动化：替代人工截图与查找流程，大幅提升国际化适配效率。</a:t>
            </a:r>
          </a:p>
          <a:p>
            <a:pPr>
              <a:spcAft>
                <a:spcPts val="1000"/>
              </a:spcAft>
              <a:defRPr sz="16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质量监控：自动检测翻译缺失与错误，保障多语言版本质量。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64592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C3232"/>
                </a:solidFill>
                <a:latin typeface="Inter"/>
              </a:defRPr>
            </a:pPr>
            <a:r>
              <a:rPr a:ea="HarmonyOS Sans SC"/>
              <a:t>■ 关键成效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210312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46464"/>
                </a:solidFill>
                <a:latin typeface="Inter"/>
              </a:defRPr>
            </a:pPr>
            <a:r>
              <a:rPr a:ea="HarmonyOS Sans SC"/>
              <a:t>截图匹配节省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37744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DC3232"/>
                </a:solidFill>
                <a:latin typeface="Inter"/>
              </a:defRPr>
            </a:pPr>
            <a:r>
              <a:rPr a:ea="HarmonyOS Sans SC"/>
              <a:t>1,183人天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83464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46464"/>
                </a:solidFill>
                <a:latin typeface="Inter"/>
              </a:defRPr>
            </a:pPr>
            <a:r>
              <a:rPr a:ea="HarmonyOS Sans SC"/>
              <a:t>匹配成功率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310896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DC3232"/>
                </a:solidFill>
                <a:latin typeface="Inter"/>
              </a:defRPr>
            </a:pPr>
            <a:r>
              <a:rPr a:ea="HarmonyOS Sans SC"/>
              <a:t>&gt;80%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384048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509E"/>
                </a:solidFill>
                <a:latin typeface="Inter"/>
              </a:defRPr>
            </a:pPr>
            <a:r>
              <a:rPr a:ea="HarmonyOS Sans SC"/>
              <a:t>■ 工作心得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4297680"/>
            <a:ext cx="3931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AI务实落地：聚焦'重复性劳动'场景，释放人力资源。</a:t>
            </a:r>
          </a:p>
          <a:p>
            <a:pPr>
              <a:spcAft>
                <a:spcPts val="800"/>
              </a:spcAft>
              <a:defRPr sz="14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信任建立：只有高准确率才能让用户真正依赖AI工具。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509E"/>
                </a:solidFill>
                <a:latin typeface="Inter"/>
              </a:defRPr>
            </a:pPr>
            <a:r>
              <a:rPr a:ea="HarmonyOS Sans SC"/>
              <a:t>桌面布局规范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4552" cy="18288"/>
          </a:xfrm>
          <a:prstGeom prst="rect">
            <a:avLst/>
          </a:prstGeom>
          <a:solidFill>
            <a:srgbClr val="00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509E"/>
                </a:solidFill>
                <a:latin typeface="Inter"/>
              </a:defRPr>
            </a:pPr>
            <a:r>
              <a:rPr a:ea="HarmonyOS Sans SC"/>
              <a:t>■ 工作内容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6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统一标准：制定并固化桌面布局配置，确保企业视觉风格统一。</a:t>
            </a:r>
          </a:p>
          <a:p>
            <a:pPr>
              <a:spcAft>
                <a:spcPts val="1000"/>
              </a:spcAft>
              <a:defRPr sz="16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安全合规：实施敏感信息拦截策略，防止数据意外泄露。</a:t>
            </a:r>
          </a:p>
          <a:p>
            <a:pPr>
              <a:spcAft>
                <a:spcPts val="1000"/>
              </a:spcAft>
              <a:defRPr sz="16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风险管控：通过技术手段规避潜在的法律与舆情风险。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64592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C3232"/>
                </a:solidFill>
                <a:latin typeface="Inter"/>
              </a:defRPr>
            </a:pPr>
            <a:r>
              <a:rPr a:ea="HarmonyOS Sans SC"/>
              <a:t>■ 关键成效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210312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46464"/>
                </a:solidFill>
                <a:latin typeface="Inter"/>
              </a:defRPr>
            </a:pPr>
            <a:r>
              <a:rPr a:ea="HarmonyOS Sans SC"/>
              <a:t>安全风险拦截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37744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DC3232"/>
                </a:solidFill>
                <a:latin typeface="Inter"/>
              </a:defRPr>
            </a:pPr>
            <a:r>
              <a:rPr a:ea="HarmonyOS Sans SC"/>
              <a:t>100%覆盖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83464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46464"/>
                </a:solidFill>
                <a:latin typeface="Inter"/>
              </a:defRPr>
            </a:pPr>
            <a:r>
              <a:rPr a:ea="HarmonyOS Sans SC"/>
              <a:t>合规事故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310896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DC3232"/>
                </a:solidFill>
                <a:latin typeface="Inter"/>
              </a:defRPr>
            </a:pPr>
            <a:r>
              <a:rPr a:ea="HarmonyOS Sans SC"/>
              <a:t>0起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384048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509E"/>
                </a:solidFill>
                <a:latin typeface="Inter"/>
              </a:defRPr>
            </a:pPr>
            <a:r>
              <a:rPr a:ea="HarmonyOS Sans SC"/>
              <a:t>■ 工作心得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4297680"/>
            <a:ext cx="3931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细节决定成败：微小的规范化改动支撑了企业的宏观安全战略。</a:t>
            </a:r>
          </a:p>
          <a:p>
            <a:pPr>
              <a:spcAft>
                <a:spcPts val="800"/>
              </a:spcAft>
              <a:defRPr sz="14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零事故目标：安全工作没有侥幸，必须100%覆盖。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509E"/>
                </a:solidFill>
                <a:latin typeface="Inter"/>
              </a:defRPr>
            </a:pPr>
            <a:r>
              <a:rPr a:ea="HarmonyOS Sans SC"/>
              <a:t>交接中心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4552" cy="18288"/>
          </a:xfrm>
          <a:prstGeom prst="rect">
            <a:avLst/>
          </a:prstGeom>
          <a:solidFill>
            <a:srgbClr val="00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509E"/>
                </a:solidFill>
                <a:latin typeface="Inter"/>
              </a:defRPr>
            </a:pPr>
            <a:r>
              <a:rPr a:ea="HarmonyOS Sans SC"/>
              <a:t>■ 工作内容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6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业务支撑：支持INS预装、Recommended Apps等复杂分发业务逻辑。</a:t>
            </a:r>
          </a:p>
          <a:p>
            <a:pPr>
              <a:spcAft>
                <a:spcPts val="1000"/>
              </a:spcAft>
              <a:defRPr sz="16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配置灵活：通过低成本配置改动，支撑千万级营收项目快速落地。</a:t>
            </a:r>
          </a:p>
          <a:p>
            <a:pPr>
              <a:spcAft>
                <a:spcPts val="1000"/>
              </a:spcAft>
              <a:defRPr sz="16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流程优化：简化跨部门交接流程，提升业务流转效率。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64592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C3232"/>
                </a:solidFill>
                <a:latin typeface="Inter"/>
              </a:defRPr>
            </a:pPr>
            <a:r>
              <a:rPr a:ea="HarmonyOS Sans SC"/>
              <a:t>■ 关键成效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210312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46464"/>
                </a:solidFill>
                <a:latin typeface="Inter"/>
              </a:defRPr>
            </a:pPr>
            <a:r>
              <a:rPr a:ea="HarmonyOS Sans SC"/>
              <a:t>内部协作节省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37744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DC3232"/>
                </a:solidFill>
                <a:latin typeface="Inter"/>
              </a:defRPr>
            </a:pPr>
            <a:r>
              <a:rPr a:ea="HarmonyOS Sans SC"/>
              <a:t>247人天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83464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46464"/>
                </a:solidFill>
                <a:latin typeface="Inter"/>
              </a:defRPr>
            </a:pPr>
            <a:r>
              <a:rPr a:ea="HarmonyOS Sans SC"/>
              <a:t>支撑营收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310896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DC3232"/>
                </a:solidFill>
                <a:latin typeface="Inter"/>
              </a:defRPr>
            </a:pPr>
            <a:r>
              <a:rPr a:ea="HarmonyOS Sans SC"/>
              <a:t>千万级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384048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509E"/>
                </a:solidFill>
                <a:latin typeface="Inter"/>
              </a:defRPr>
            </a:pPr>
            <a:r>
              <a:rPr a:ea="HarmonyOS Sans SC"/>
              <a:t>■ 工作心得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4297680"/>
            <a:ext cx="3931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商业价值：技术直接服务于营收，小功能撬动大收益。</a:t>
            </a:r>
          </a:p>
          <a:p>
            <a:pPr>
              <a:spcAft>
                <a:spcPts val="800"/>
              </a:spcAft>
              <a:defRPr sz="14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敏捷响应：快速响应商业需求是技术团队的核心价值之一。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509E"/>
                </a:solidFill>
                <a:latin typeface="Inter"/>
              </a:defRPr>
            </a:pPr>
            <a:r>
              <a:rPr a:ea="HarmonyOS Sans SC"/>
              <a:t>快应用国家政务服务平台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4552" cy="18288"/>
          </a:xfrm>
          <a:prstGeom prst="rect">
            <a:avLst/>
          </a:prstGeom>
          <a:solidFill>
            <a:srgbClr val="00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509E"/>
                </a:solidFill>
                <a:latin typeface="Inter"/>
              </a:defRPr>
            </a:pPr>
            <a:r>
              <a:rPr a:ea="HarmonyOS Sans SC"/>
              <a:t>■ 工作内容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6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核心保障：零故障支撑高考查分、社保医保支付等亿级流量服务。</a:t>
            </a:r>
          </a:p>
          <a:p>
            <a:pPr>
              <a:spcAft>
                <a:spcPts val="1000"/>
              </a:spcAft>
              <a:defRPr sz="16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生态连接：适配OPPO侧卡片样式，部署通用查询接口，打破厂商壁垒。</a:t>
            </a:r>
          </a:p>
          <a:p>
            <a:pPr>
              <a:spcAft>
                <a:spcPts val="1000"/>
              </a:spcAft>
              <a:defRPr sz="16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体验重构：优化证照中心交互，去除非必要鉴权，提升转化率。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64592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C3232"/>
                </a:solidFill>
                <a:latin typeface="Inter"/>
              </a:defRPr>
            </a:pPr>
            <a:r>
              <a:rPr a:ea="HarmonyOS Sans SC"/>
              <a:t>■ 关键成效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210312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46464"/>
                </a:solidFill>
                <a:latin typeface="Inter"/>
              </a:defRPr>
            </a:pPr>
            <a:r>
              <a:rPr a:ea="HarmonyOS Sans SC"/>
              <a:t>服务稳定性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37744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DC3232"/>
                </a:solidFill>
                <a:latin typeface="Inter"/>
              </a:defRPr>
            </a:pPr>
            <a:r>
              <a:rPr a:ea="HarmonyOS Sans SC"/>
              <a:t>99.99%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83464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46464"/>
                </a:solidFill>
                <a:latin typeface="Inter"/>
              </a:defRPr>
            </a:pPr>
            <a:r>
              <a:rPr a:ea="HarmonyOS Sans SC"/>
              <a:t>核心流量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310896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DC3232"/>
                </a:solidFill>
                <a:latin typeface="Inter"/>
              </a:defRPr>
            </a:pPr>
            <a:r>
              <a:rPr a:ea="HarmonyOS Sans SC"/>
              <a:t>PV 90w+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384048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509E"/>
                </a:solidFill>
                <a:latin typeface="Inter"/>
              </a:defRPr>
            </a:pPr>
            <a:r>
              <a:rPr a:ea="HarmonyOS Sans SC"/>
              <a:t>■ 工作心得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4297680"/>
            <a:ext cx="3931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底线思维：政务服务关乎民生，稳定性是最高优先级。</a:t>
            </a:r>
          </a:p>
          <a:p>
            <a:pPr>
              <a:spcAft>
                <a:spcPts val="800"/>
              </a:spcAft>
              <a:defRPr sz="14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体验为王：每一个多余点击的去除，都是对用户的尊重。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509E"/>
                </a:solidFill>
                <a:latin typeface="Inter"/>
              </a:defRPr>
            </a:pPr>
            <a:r>
              <a:rPr a:ea="HarmonyOS Sans SC"/>
              <a:t>问题回顾与改进建议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4552" cy="18288"/>
          </a:xfrm>
          <a:prstGeom prst="rect">
            <a:avLst/>
          </a:prstGeom>
          <a:solidFill>
            <a:srgbClr val="00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509E"/>
                </a:solidFill>
                <a:latin typeface="Inter"/>
              </a:defRPr>
            </a:pPr>
            <a:r>
              <a:rPr a:ea="HarmonyOS Sans SC"/>
              <a:t>■ 工作内容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6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技术债：OAuth Code依赖系统时间，Nginx鉴权偶发失败。</a:t>
            </a:r>
          </a:p>
          <a:p>
            <a:pPr>
              <a:spcAft>
                <a:spcPts val="1000"/>
              </a:spcAft>
              <a:defRPr sz="16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流程瓶颈：人工Code Review在高峰期效率低，规范检查耗时。</a:t>
            </a:r>
          </a:p>
          <a:p>
            <a:pPr>
              <a:spcAft>
                <a:spcPts val="1000"/>
              </a:spcAft>
              <a:defRPr sz="16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监控盲区：部分旧系统接口缺乏秒级监控报警。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64592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509E"/>
                </a:solidFill>
                <a:latin typeface="Inter"/>
              </a:defRPr>
            </a:pPr>
            <a:r>
              <a:rPr a:ea="HarmonyOS Sans SC"/>
              <a:t>■ 工作心得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2103120"/>
            <a:ext cx="3931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系统治理：推进全链路NTP时间同步与Nginx配置标准化。</a:t>
            </a:r>
          </a:p>
          <a:p>
            <a:pPr>
              <a:spcAft>
                <a:spcPts val="800"/>
              </a:spcAft>
              <a:defRPr sz="14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工具赋能：推广AI辅助Code Review，实现规范检查自动化。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509E"/>
                </a:solidFill>
                <a:latin typeface="Inter"/>
              </a:defRPr>
            </a:pPr>
            <a:r>
              <a:rPr a:ea="HarmonyOS Sans SC"/>
              <a:t>2026年工作规划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4552" cy="18288"/>
          </a:xfrm>
          <a:prstGeom prst="rect">
            <a:avLst/>
          </a:prstGeom>
          <a:solidFill>
            <a:srgbClr val="00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509E"/>
                </a:solidFill>
                <a:latin typeface="Inter"/>
              </a:defRPr>
            </a:pPr>
            <a:r>
              <a:rPr a:ea="HarmonyOS Sans SC"/>
              <a:t>■ 工作内容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6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快应用深耕：落地医保移动支付全流程，打造政务标杆。</a:t>
            </a:r>
          </a:p>
          <a:p>
            <a:pPr>
              <a:spcAft>
                <a:spcPts val="1000"/>
              </a:spcAft>
              <a:defRPr sz="16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MEAT平台进化：引入Agent生成测试用例，降低QA成本。</a:t>
            </a:r>
          </a:p>
          <a:p>
            <a:pPr>
              <a:spcAft>
                <a:spcPts val="1000"/>
              </a:spcAft>
              <a:defRPr sz="16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技术基建：沉淀通用前端组件库，探索鸿蒙原生开发技术。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64592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509E"/>
                </a:solidFill>
                <a:latin typeface="Inter"/>
              </a:defRPr>
            </a:pPr>
            <a:r>
              <a:rPr a:ea="HarmonyOS Sans SC"/>
              <a:t>■ 工作心得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2103120"/>
            <a:ext cx="3931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角色转型：从业务支撑者向技术驱动者转型。</a:t>
            </a:r>
          </a:p>
          <a:p>
            <a:pPr>
              <a:spcAft>
                <a:spcPts val="800"/>
              </a:spcAft>
              <a:defRPr sz="14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拥抱变化：AI 2.0时代，构建人机协同的新研发范式。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